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1_Codec_Pro_Regular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7559675" cy="10691813"/>
  <p:embeddedFontLst>
    <p:embeddedFont>
      <p:font typeface="Codec Pro"/>
      <p:regular r:id="rId11"/>
    </p:embeddedFont>
    <p:embeddedFont>
      <p:font typeface="Codec Pro Bold"/>
    </p:embeddedFont>
    <p:embeddedFont>
      <p:font typeface="Gatwick Ultra-Bold"/>
    </p:embeddedFont>
    <p:embeddedFont>
      <p:font typeface="Codec Pro Ultra-Bold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_1_Codec_Pro_Regular.fntdata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2AD139-5D3B-4A7B-9BFE-4EB6360A50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13D4F7-DBE7-4C70-9DD3-2FCC8A2D7C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AEB98E-69B9-4E28-9C81-4B331677E6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D21B1C-2466-4DA2-AF87-10882323B2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67F37D-D99F-470A-A879-704CCC601E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03E329-22E6-4F26-8EC6-7603F11A94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CDD9DF-9DDC-4389-9F2D-8FF086CCF3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289FAD-DD41-424F-9BFA-42E9C86F49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5E2557-D977-4799-AF9B-0664054C109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749007-098F-4CFD-9B3C-9082B3C440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10A627-D0AB-472F-9E85-B75795D565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666720" y="619200"/>
            <a:ext cx="16953120" cy="8952120"/>
            <a:chOff x="666720" y="619200"/>
            <a:chExt cx="16953120" cy="8952120"/>
          </a:xfrm>
        </p:grpSpPr>
        <p:sp>
          <p:nvSpPr>
            <p:cNvPr id="62" name="Freeform 3"/>
            <p:cNvSpPr/>
            <p:nvPr/>
          </p:nvSpPr>
          <p:spPr>
            <a:xfrm>
              <a:off x="704160" y="65664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4"/>
            <p:cNvSpPr/>
            <p:nvPr/>
          </p:nvSpPr>
          <p:spPr>
            <a:xfrm>
              <a:off x="666720" y="61920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10095480" y="1171440"/>
            <a:ext cx="6897240" cy="7847280"/>
            <a:chOff x="10095480" y="1171440"/>
            <a:chExt cx="6897240" cy="7847280"/>
          </a:xfrm>
        </p:grpSpPr>
        <p:sp>
          <p:nvSpPr>
            <p:cNvPr id="65" name="Freeform 6"/>
            <p:cNvSpPr/>
            <p:nvPr/>
          </p:nvSpPr>
          <p:spPr>
            <a:xfrm>
              <a:off x="10095480" y="1171440"/>
              <a:ext cx="6897240" cy="7847280"/>
            </a:xfrm>
            <a:custGeom>
              <a:avLst/>
              <a:gdLst>
                <a:gd name="textAreaLeft" fmla="*/ 0 w 6897240"/>
                <a:gd name="textAreaRight" fmla="*/ 6898680 w 6897240"/>
                <a:gd name="textAreaTop" fmla="*/ 0 h 7847280"/>
                <a:gd name="textAreaBottom" fmla="*/ 7848720 h 7847280"/>
              </a:gdLst>
              <a:ahLst/>
              <a:cxnLst/>
              <a:rect l="textAreaLeft" t="textAreaTop" r="textAreaRight" b="textAreaBottom"/>
              <a:pathLst>
                <a:path w="1078972" h="1227593">
                  <a:moveTo>
                    <a:pt x="56112" y="0"/>
                  </a:moveTo>
                  <a:lnTo>
                    <a:pt x="1022860" y="0"/>
                  </a:lnTo>
                  <a:cubicBezTo>
                    <a:pt x="1053850" y="0"/>
                    <a:pt x="1078972" y="25122"/>
                    <a:pt x="1078972" y="56112"/>
                  </a:cubicBezTo>
                  <a:lnTo>
                    <a:pt x="1078972" y="1171481"/>
                  </a:lnTo>
                  <a:cubicBezTo>
                    <a:pt x="1078972" y="1202471"/>
                    <a:pt x="1053850" y="1227593"/>
                    <a:pt x="1022860" y="1227593"/>
                  </a:cubicBezTo>
                  <a:lnTo>
                    <a:pt x="56112" y="1227593"/>
                  </a:lnTo>
                  <a:cubicBezTo>
                    <a:pt x="25122" y="1227593"/>
                    <a:pt x="0" y="1202471"/>
                    <a:pt x="0" y="1171481"/>
                  </a:cubicBezTo>
                  <a:lnTo>
                    <a:pt x="0" y="56112"/>
                  </a:lnTo>
                  <a:cubicBezTo>
                    <a:pt x="0" y="25122"/>
                    <a:pt x="25122" y="0"/>
                    <a:pt x="56112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7"/>
          <p:cNvSpPr/>
          <p:nvPr/>
        </p:nvSpPr>
        <p:spPr>
          <a:xfrm>
            <a:off x="1800360" y="3233880"/>
            <a:ext cx="74948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000"/>
              </a:lnSpc>
              <a:tabLst>
                <a:tab algn="l" pos="0"/>
              </a:tabLst>
            </a:pPr>
            <a:r>
              <a:rPr b="1" lang="en-US" sz="7500" spc="-187" strike="noStrike" u="none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Projeto Pluvius</a:t>
            </a:r>
            <a:endParaRPr b="0" lang="pt-BR" sz="7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800360" y="1504800"/>
            <a:ext cx="74948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98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PROJETO DE CIDADE INTELIGENTE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1800360" y="8457480"/>
            <a:ext cx="74948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98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Sensor IoT para Grande São Paulo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1440000" y="6480000"/>
            <a:ext cx="879588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21"/>
              </a:lnSpc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Rodolfo Regis de Souza — RA: 825113514 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Gabriel Souza Santos — RA: 825113168 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Sergio Rycbczak Junior — RA: 825154823 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Pietro Oliveira Silva — RA: 825113483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666720" y="9553680"/>
            <a:ext cx="169531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21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"/>
          <p:cNvGrpSpPr/>
          <p:nvPr/>
        </p:nvGrpSpPr>
        <p:grpSpPr>
          <a:xfrm>
            <a:off x="766440" y="666720"/>
            <a:ext cx="16953120" cy="8952120"/>
            <a:chOff x="766440" y="666720"/>
            <a:chExt cx="16953120" cy="8952120"/>
          </a:xfrm>
        </p:grpSpPr>
        <p:sp>
          <p:nvSpPr>
            <p:cNvPr id="72" name="Freeform 3"/>
            <p:cNvSpPr/>
            <p:nvPr/>
          </p:nvSpPr>
          <p:spPr>
            <a:xfrm>
              <a:off x="80424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4"/>
            <p:cNvSpPr/>
            <p:nvPr/>
          </p:nvSpPr>
          <p:spPr>
            <a:xfrm>
              <a:off x="76644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INTRODUÇÃO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6"/>
          <p:cNvGrpSpPr/>
          <p:nvPr/>
        </p:nvGrpSpPr>
        <p:grpSpPr>
          <a:xfrm>
            <a:off x="7436880" y="1308960"/>
            <a:ext cx="9049680" cy="7414560"/>
            <a:chOff x="7436880" y="1308960"/>
            <a:chExt cx="9049680" cy="7414560"/>
          </a:xfrm>
        </p:grpSpPr>
        <p:sp>
          <p:nvSpPr>
            <p:cNvPr id="76" name="Freeform 7"/>
            <p:cNvSpPr/>
            <p:nvPr/>
          </p:nvSpPr>
          <p:spPr>
            <a:xfrm>
              <a:off x="7436880" y="1562040"/>
              <a:ext cx="9049680" cy="7161480"/>
            </a:xfrm>
            <a:custGeom>
              <a:avLst/>
              <a:gdLst>
                <a:gd name="textAreaLeft" fmla="*/ 0 w 9049680"/>
                <a:gd name="textAreaRight" fmla="*/ 9051120 w 9049680"/>
                <a:gd name="textAreaTop" fmla="*/ 0 h 7161480"/>
                <a:gd name="textAreaBottom" fmla="*/ 7162920 h 71614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8"/>
            <p:cNvSpPr/>
            <p:nvPr/>
          </p:nvSpPr>
          <p:spPr>
            <a:xfrm>
              <a:off x="7436880" y="1308960"/>
              <a:ext cx="9049680" cy="741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8" name="TextBox 9"/>
          <p:cNvSpPr/>
          <p:nvPr/>
        </p:nvSpPr>
        <p:spPr>
          <a:xfrm>
            <a:off x="7659720" y="2204640"/>
            <a:ext cx="8289000" cy="61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Com o crescimento populacional e a urbanização acelerada das grandes cidades aumentam os desafios relacionados à infraestrutura e à segurança civil.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No contexto de Cidades Inteligentes, tecnologias digitais e IoT permitem a coleta de dados em tempo real, possibilitando uma gestão urbana mais eficiente.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Mesmo com avanços tecnológicos, São Paulo enfrenta graves problemas de alagamentos todos os anos. No Brasil, os desastres climáticos cresceram 460% em comparação aos anos 1990, e na capital paulista o número de ocorrências aumenta cerca de 50% a cada ano.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Apenas em 2013, os prejuízos causados por enchentes ultrapassaram R$ 762 milhões. O monitoramento atual não oferece a precisão e rapidez necessárias para decisões eficazes. Por isso, o Projeto Pluvius (AlertaSP) propõe uma solução baseada em sensores IoT para monitorar riscos de inundação e emitir alertas em tempo real.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80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Metodologia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roup 6"/>
          <p:cNvGrpSpPr/>
          <p:nvPr/>
        </p:nvGrpSpPr>
        <p:grpSpPr>
          <a:xfrm>
            <a:off x="7020000" y="900000"/>
            <a:ext cx="9466560" cy="8279280"/>
            <a:chOff x="7020000" y="900000"/>
            <a:chExt cx="9466560" cy="8279280"/>
          </a:xfrm>
        </p:grpSpPr>
        <p:sp>
          <p:nvSpPr>
            <p:cNvPr id="84" name="Freeform 7"/>
            <p:cNvSpPr/>
            <p:nvPr/>
          </p:nvSpPr>
          <p:spPr>
            <a:xfrm>
              <a:off x="7020000" y="1182600"/>
              <a:ext cx="9466560" cy="7996680"/>
            </a:xfrm>
            <a:custGeom>
              <a:avLst/>
              <a:gdLst>
                <a:gd name="textAreaLeft" fmla="*/ 0 w 9466560"/>
                <a:gd name="textAreaRight" fmla="*/ 9468000 w 9466560"/>
                <a:gd name="textAreaTop" fmla="*/ 0 h 7996680"/>
                <a:gd name="textAreaBottom" fmla="*/ 7998120 h 79966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8"/>
            <p:cNvSpPr/>
            <p:nvPr/>
          </p:nvSpPr>
          <p:spPr>
            <a:xfrm>
              <a:off x="7020000" y="900000"/>
              <a:ext cx="9466560" cy="82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6" name="TextBox 9"/>
          <p:cNvSpPr/>
          <p:nvPr/>
        </p:nvSpPr>
        <p:spPr>
          <a:xfrm>
            <a:off x="7380000" y="1620000"/>
            <a:ext cx="8829000" cy="72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 metodologia do projeto foi baseada em uma abordagem, dividida em três etapas: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Pesquisa: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Levantamento bibliográfico sobre IoT, Cidades Inteligentes e sistemas de monitoramento hidrológico;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Estudos de Singapura, Nova York, Dublin, Copenhagen e cidades europeias.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Análise do cenário de São Paulo: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Clima;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Geografia;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Custos e infraestrutura;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Necessidades de órgãos como SABESP e Defesa Civil.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Proposição: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Solução de arquitetura IoT;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Mecanismos analítico;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Banco de Dados em nuvem, com baixo custo, escalabilidade e robustez.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88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5"/>
          <p:cNvGrpSpPr/>
          <p:nvPr/>
        </p:nvGrpSpPr>
        <p:grpSpPr>
          <a:xfrm>
            <a:off x="1800360" y="3352680"/>
            <a:ext cx="4618080" cy="3229920"/>
            <a:chOff x="1800360" y="3352680"/>
            <a:chExt cx="4618080" cy="3229920"/>
          </a:xfrm>
        </p:grpSpPr>
        <p:sp>
          <p:nvSpPr>
            <p:cNvPr id="91" name="Freeform 6"/>
            <p:cNvSpPr/>
            <p:nvPr/>
          </p:nvSpPr>
          <p:spPr>
            <a:xfrm>
              <a:off x="1800360" y="3352680"/>
              <a:ext cx="4618080" cy="3229920"/>
            </a:xfrm>
            <a:custGeom>
              <a:avLst/>
              <a:gdLst>
                <a:gd name="textAreaLeft" fmla="*/ 0 w 4618080"/>
                <a:gd name="textAreaRight" fmla="*/ 4619520 w 46180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Group 7"/>
          <p:cNvGrpSpPr/>
          <p:nvPr/>
        </p:nvGrpSpPr>
        <p:grpSpPr>
          <a:xfrm>
            <a:off x="6834240" y="3352680"/>
            <a:ext cx="4618080" cy="3229920"/>
            <a:chOff x="6834240" y="3352680"/>
            <a:chExt cx="4618080" cy="3229920"/>
          </a:xfrm>
        </p:grpSpPr>
        <p:sp>
          <p:nvSpPr>
            <p:cNvPr id="93" name="Freeform 8"/>
            <p:cNvSpPr/>
            <p:nvPr/>
          </p:nvSpPr>
          <p:spPr>
            <a:xfrm>
              <a:off x="6834240" y="3352680"/>
              <a:ext cx="4618080" cy="3229920"/>
            </a:xfrm>
            <a:custGeom>
              <a:avLst/>
              <a:gdLst>
                <a:gd name="textAreaLeft" fmla="*/ 0 w 4618080"/>
                <a:gd name="textAreaRight" fmla="*/ 4619520 w 46180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9"/>
          <p:cNvGrpSpPr/>
          <p:nvPr/>
        </p:nvGrpSpPr>
        <p:grpSpPr>
          <a:xfrm>
            <a:off x="11865600" y="3352680"/>
            <a:ext cx="4621680" cy="3229920"/>
            <a:chOff x="11865600" y="3352680"/>
            <a:chExt cx="4621680" cy="3229920"/>
          </a:xfrm>
        </p:grpSpPr>
        <p:sp>
          <p:nvSpPr>
            <p:cNvPr id="95" name="Freeform 10"/>
            <p:cNvSpPr/>
            <p:nvPr/>
          </p:nvSpPr>
          <p:spPr>
            <a:xfrm>
              <a:off x="11865600" y="3352680"/>
              <a:ext cx="4621680" cy="3229920"/>
            </a:xfrm>
            <a:custGeom>
              <a:avLst/>
              <a:gdLst>
                <a:gd name="textAreaLeft" fmla="*/ 0 w 4621680"/>
                <a:gd name="textAreaRight" fmla="*/ 4623120 w 46216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763" h="454859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Group 11"/>
          <p:cNvGrpSpPr/>
          <p:nvPr/>
        </p:nvGrpSpPr>
        <p:grpSpPr>
          <a:xfrm>
            <a:off x="1800360" y="6884280"/>
            <a:ext cx="4618080" cy="1244880"/>
            <a:chOff x="1800360" y="6884280"/>
            <a:chExt cx="4618080" cy="1244880"/>
          </a:xfrm>
        </p:grpSpPr>
        <p:sp>
          <p:nvSpPr>
            <p:cNvPr id="97" name="TextBox 12"/>
            <p:cNvSpPr/>
            <p:nvPr/>
          </p:nvSpPr>
          <p:spPr>
            <a:xfrm>
              <a:off x="1800360" y="7329960"/>
              <a:ext cx="461808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Dados confiáveis para monitoramento eficiente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extBox 13"/>
            <p:cNvSpPr/>
            <p:nvPr/>
          </p:nvSpPr>
          <p:spPr>
            <a:xfrm>
              <a:off x="1800360" y="6884280"/>
              <a:ext cx="461808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Precisão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Group 14"/>
          <p:cNvGrpSpPr/>
          <p:nvPr/>
        </p:nvGrpSpPr>
        <p:grpSpPr>
          <a:xfrm>
            <a:off x="6834240" y="6884280"/>
            <a:ext cx="4477680" cy="1244880"/>
            <a:chOff x="6834240" y="6884280"/>
            <a:chExt cx="4477680" cy="1244880"/>
          </a:xfrm>
        </p:grpSpPr>
        <p:sp>
          <p:nvSpPr>
            <p:cNvPr id="100" name="TextBox 15"/>
            <p:cNvSpPr/>
            <p:nvPr/>
          </p:nvSpPr>
          <p:spPr>
            <a:xfrm>
              <a:off x="6834240" y="7329960"/>
              <a:ext cx="447768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Transmissão sem fio em tempo real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6"/>
            <p:cNvSpPr/>
            <p:nvPr/>
          </p:nvSpPr>
          <p:spPr>
            <a:xfrm>
              <a:off x="6834240" y="6884280"/>
              <a:ext cx="447768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Conectividade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Group 17"/>
          <p:cNvGrpSpPr/>
          <p:nvPr/>
        </p:nvGrpSpPr>
        <p:grpSpPr>
          <a:xfrm>
            <a:off x="11868120" y="6884280"/>
            <a:ext cx="4618800" cy="1244880"/>
            <a:chOff x="11868120" y="6884280"/>
            <a:chExt cx="4618800" cy="1244880"/>
          </a:xfrm>
        </p:grpSpPr>
        <p:sp>
          <p:nvSpPr>
            <p:cNvPr id="103" name="TextBox 18"/>
            <p:cNvSpPr/>
            <p:nvPr/>
          </p:nvSpPr>
          <p:spPr>
            <a:xfrm>
              <a:off x="11868120" y="7329960"/>
              <a:ext cx="461880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Resistência a condições climáticas adversas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TextBox 19"/>
            <p:cNvSpPr/>
            <p:nvPr/>
          </p:nvSpPr>
          <p:spPr>
            <a:xfrm>
              <a:off x="11868120" y="6884280"/>
              <a:ext cx="461880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Durabilidade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TextBox 20"/>
          <p:cNvSpPr/>
          <p:nvPr/>
        </p:nvSpPr>
        <p:spPr>
          <a:xfrm>
            <a:off x="2104920" y="1504800"/>
            <a:ext cx="1407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Sensores Pluviométricos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07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5"/>
          <p:cNvGrpSpPr/>
          <p:nvPr/>
        </p:nvGrpSpPr>
        <p:grpSpPr>
          <a:xfrm>
            <a:off x="1800360" y="3511440"/>
            <a:ext cx="4716000" cy="5212080"/>
            <a:chOff x="1800360" y="3511440"/>
            <a:chExt cx="4716000" cy="5212080"/>
          </a:xfrm>
        </p:grpSpPr>
        <p:sp>
          <p:nvSpPr>
            <p:cNvPr id="110" name="Freeform 6"/>
            <p:cNvSpPr/>
            <p:nvPr/>
          </p:nvSpPr>
          <p:spPr>
            <a:xfrm>
              <a:off x="180036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7"/>
            <p:cNvSpPr/>
            <p:nvPr/>
          </p:nvSpPr>
          <p:spPr>
            <a:xfrm>
              <a:off x="180036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2" name="Group 8"/>
          <p:cNvGrpSpPr/>
          <p:nvPr/>
        </p:nvGrpSpPr>
        <p:grpSpPr>
          <a:xfrm>
            <a:off x="6785280" y="3511440"/>
            <a:ext cx="4716000" cy="5212080"/>
            <a:chOff x="6785280" y="3511440"/>
            <a:chExt cx="4716000" cy="5212080"/>
          </a:xfrm>
        </p:grpSpPr>
        <p:sp>
          <p:nvSpPr>
            <p:cNvPr id="113" name="Freeform 9"/>
            <p:cNvSpPr/>
            <p:nvPr/>
          </p:nvSpPr>
          <p:spPr>
            <a:xfrm>
              <a:off x="678528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10"/>
            <p:cNvSpPr/>
            <p:nvPr/>
          </p:nvSpPr>
          <p:spPr>
            <a:xfrm>
              <a:off x="678528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5" name="Group 11"/>
          <p:cNvGrpSpPr/>
          <p:nvPr/>
        </p:nvGrpSpPr>
        <p:grpSpPr>
          <a:xfrm>
            <a:off x="11770200" y="3511440"/>
            <a:ext cx="4716000" cy="5212080"/>
            <a:chOff x="11770200" y="3511440"/>
            <a:chExt cx="4716000" cy="5212080"/>
          </a:xfrm>
        </p:grpSpPr>
        <p:sp>
          <p:nvSpPr>
            <p:cNvPr id="116" name="Freeform 12"/>
            <p:cNvSpPr/>
            <p:nvPr/>
          </p:nvSpPr>
          <p:spPr>
            <a:xfrm>
              <a:off x="1177020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Box 13"/>
            <p:cNvSpPr/>
            <p:nvPr/>
          </p:nvSpPr>
          <p:spPr>
            <a:xfrm>
              <a:off x="1177020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8" name="TextBox 14"/>
          <p:cNvSpPr/>
          <p:nvPr/>
        </p:nvSpPr>
        <p:spPr>
          <a:xfrm>
            <a:off x="2104920" y="1504800"/>
            <a:ext cx="1407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Solução: Rede de Sensores IoT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15"/>
          <p:cNvGrpSpPr/>
          <p:nvPr/>
        </p:nvGrpSpPr>
        <p:grpSpPr>
          <a:xfrm>
            <a:off x="2178360" y="4198320"/>
            <a:ext cx="3959640" cy="3206880"/>
            <a:chOff x="2178360" y="4198320"/>
            <a:chExt cx="3959640" cy="3206880"/>
          </a:xfrm>
        </p:grpSpPr>
        <p:sp>
          <p:nvSpPr>
            <p:cNvPr id="120" name="TextBox 16"/>
            <p:cNvSpPr/>
            <p:nvPr/>
          </p:nvSpPr>
          <p:spPr>
            <a:xfrm>
              <a:off x="2178360" y="5043960"/>
              <a:ext cx="3959640" cy="23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A coleta de dados de pluviômetros permite um </a:t>
              </a: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monitoramento constante</a:t>
              </a: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 das condições de chuva, ajudando a prever eventos climáticos extremos.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17"/>
            <p:cNvSpPr/>
            <p:nvPr/>
          </p:nvSpPr>
          <p:spPr>
            <a:xfrm>
              <a:off x="2178360" y="4198320"/>
              <a:ext cx="3959640" cy="81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Monitoramento em Tempo Real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" name="Group 18"/>
          <p:cNvGrpSpPr/>
          <p:nvPr/>
        </p:nvGrpSpPr>
        <p:grpSpPr>
          <a:xfrm>
            <a:off x="7163640" y="4198320"/>
            <a:ext cx="3959640" cy="2806920"/>
            <a:chOff x="7163640" y="4198320"/>
            <a:chExt cx="3959640" cy="2806920"/>
          </a:xfrm>
        </p:grpSpPr>
        <p:sp>
          <p:nvSpPr>
            <p:cNvPr id="123" name="TextBox 19"/>
            <p:cNvSpPr/>
            <p:nvPr/>
          </p:nvSpPr>
          <p:spPr>
            <a:xfrm>
              <a:off x="7163640" y="4644000"/>
              <a:ext cx="3959640" cy="23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Com técnicas de análise de dados, é possível </a:t>
              </a: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identificar áreas de risco</a:t>
              </a: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 antes de ocorrerem enchentes, facilitando a atuação preventiva.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TextBox 20"/>
            <p:cNvSpPr/>
            <p:nvPr/>
          </p:nvSpPr>
          <p:spPr>
            <a:xfrm>
              <a:off x="7163640" y="4198320"/>
              <a:ext cx="395964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Análise Inteligente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Group 21"/>
          <p:cNvGrpSpPr/>
          <p:nvPr/>
        </p:nvGrpSpPr>
        <p:grpSpPr>
          <a:xfrm>
            <a:off x="12148560" y="4198320"/>
            <a:ext cx="3959640" cy="3197520"/>
            <a:chOff x="12148560" y="4198320"/>
            <a:chExt cx="3959640" cy="3197520"/>
          </a:xfrm>
        </p:grpSpPr>
        <p:sp>
          <p:nvSpPr>
            <p:cNvPr id="126" name="TextBox 22"/>
            <p:cNvSpPr/>
            <p:nvPr/>
          </p:nvSpPr>
          <p:spPr>
            <a:xfrm>
              <a:off x="12148560" y="4644000"/>
              <a:ext cx="3959640" cy="275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Notificações via aplicativo garantem que a população receba </a:t>
              </a: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alertas em tempo real</a:t>
              </a:r>
              <a:r>
                <a:rPr b="0" lang="en-US" sz="2400" strike="noStrike" u="non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, permitindo uma resposta rápida e eficaz a situações de emergência.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23"/>
            <p:cNvSpPr/>
            <p:nvPr/>
          </p:nvSpPr>
          <p:spPr>
            <a:xfrm>
              <a:off x="12148560" y="4198320"/>
              <a:ext cx="395964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r>
                <a:rPr b="1" lang="en-US" sz="2400" strike="noStrike" u="non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Alerta à População</a:t>
              </a:r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29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AutoShape 5"/>
          <p:cNvSpPr/>
          <p:nvPr/>
        </p:nvSpPr>
        <p:spPr>
          <a:xfrm>
            <a:off x="2436480" y="5162400"/>
            <a:ext cx="15028200" cy="360"/>
          </a:xfrm>
          <a:prstGeom prst="line">
            <a:avLst/>
          </a:prstGeom>
          <a:ln w="381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2" name="Group 6"/>
          <p:cNvGrpSpPr/>
          <p:nvPr/>
        </p:nvGrpSpPr>
        <p:grpSpPr>
          <a:xfrm>
            <a:off x="2111760" y="5000040"/>
            <a:ext cx="323280" cy="323280"/>
            <a:chOff x="2111760" y="5000040"/>
            <a:chExt cx="323280" cy="323280"/>
          </a:xfrm>
        </p:grpSpPr>
        <p:sp>
          <p:nvSpPr>
            <p:cNvPr id="133" name="Freeform 7"/>
            <p:cNvSpPr/>
            <p:nvPr/>
          </p:nvSpPr>
          <p:spPr>
            <a:xfrm>
              <a:off x="211176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8"/>
            <p:cNvSpPr/>
            <p:nvPr/>
          </p:nvSpPr>
          <p:spPr>
            <a:xfrm>
              <a:off x="214236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5" name="Group 9"/>
          <p:cNvGrpSpPr/>
          <p:nvPr/>
        </p:nvGrpSpPr>
        <p:grpSpPr>
          <a:xfrm>
            <a:off x="7141320" y="5000040"/>
            <a:ext cx="323280" cy="323280"/>
            <a:chOff x="7141320" y="5000040"/>
            <a:chExt cx="323280" cy="323280"/>
          </a:xfrm>
        </p:grpSpPr>
        <p:sp>
          <p:nvSpPr>
            <p:cNvPr id="136" name="Freeform 10"/>
            <p:cNvSpPr/>
            <p:nvPr/>
          </p:nvSpPr>
          <p:spPr>
            <a:xfrm>
              <a:off x="714132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1"/>
            <p:cNvSpPr/>
            <p:nvPr/>
          </p:nvSpPr>
          <p:spPr>
            <a:xfrm>
              <a:off x="717192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8" name="Group 12"/>
          <p:cNvGrpSpPr/>
          <p:nvPr/>
        </p:nvGrpSpPr>
        <p:grpSpPr>
          <a:xfrm>
            <a:off x="12176640" y="5000040"/>
            <a:ext cx="323280" cy="323280"/>
            <a:chOff x="12176640" y="5000040"/>
            <a:chExt cx="323280" cy="323280"/>
          </a:xfrm>
        </p:grpSpPr>
        <p:sp>
          <p:nvSpPr>
            <p:cNvPr id="139" name="Freeform 13"/>
            <p:cNvSpPr/>
            <p:nvPr/>
          </p:nvSpPr>
          <p:spPr>
            <a:xfrm>
              <a:off x="1217664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14"/>
            <p:cNvSpPr/>
            <p:nvPr/>
          </p:nvSpPr>
          <p:spPr>
            <a:xfrm>
              <a:off x="1220724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1" name="TextBox 15"/>
          <p:cNvSpPr/>
          <p:nvPr/>
        </p:nvSpPr>
        <p:spPr>
          <a:xfrm>
            <a:off x="2104920" y="1504800"/>
            <a:ext cx="1407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Plano de Implementação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2104920" y="5972040"/>
            <a:ext cx="400860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Testes de sensores em áreas críticas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7136640" y="5972040"/>
            <a:ext cx="401328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Plataforma unificada para integração de dados 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12176640" y="5972040"/>
            <a:ext cx="400860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Ampliação da rede para toda a cidade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2104920" y="4172040"/>
            <a:ext cx="40086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7141320" y="4172040"/>
            <a:ext cx="40086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2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12173040" y="4220640"/>
            <a:ext cx="40125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3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49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5"/>
          <p:cNvGrpSpPr/>
          <p:nvPr/>
        </p:nvGrpSpPr>
        <p:grpSpPr>
          <a:xfrm>
            <a:off x="1800360" y="3511440"/>
            <a:ext cx="4716000" cy="5212080"/>
            <a:chOff x="1800360" y="3511440"/>
            <a:chExt cx="4716000" cy="5212080"/>
          </a:xfrm>
        </p:grpSpPr>
        <p:sp>
          <p:nvSpPr>
            <p:cNvPr id="152" name="Freeform 6"/>
            <p:cNvSpPr/>
            <p:nvPr/>
          </p:nvSpPr>
          <p:spPr>
            <a:xfrm>
              <a:off x="180036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TextBox 7"/>
            <p:cNvSpPr/>
            <p:nvPr/>
          </p:nvSpPr>
          <p:spPr>
            <a:xfrm>
              <a:off x="180036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4" name="Group 8"/>
          <p:cNvGrpSpPr/>
          <p:nvPr/>
        </p:nvGrpSpPr>
        <p:grpSpPr>
          <a:xfrm>
            <a:off x="6785280" y="3511440"/>
            <a:ext cx="4716000" cy="5212080"/>
            <a:chOff x="6785280" y="3511440"/>
            <a:chExt cx="4716000" cy="5212080"/>
          </a:xfrm>
        </p:grpSpPr>
        <p:sp>
          <p:nvSpPr>
            <p:cNvPr id="155" name="Freeform 9"/>
            <p:cNvSpPr/>
            <p:nvPr/>
          </p:nvSpPr>
          <p:spPr>
            <a:xfrm>
              <a:off x="678528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10"/>
            <p:cNvSpPr/>
            <p:nvPr/>
          </p:nvSpPr>
          <p:spPr>
            <a:xfrm>
              <a:off x="678528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7" name="Group 11"/>
          <p:cNvGrpSpPr/>
          <p:nvPr/>
        </p:nvGrpSpPr>
        <p:grpSpPr>
          <a:xfrm>
            <a:off x="11770200" y="3511440"/>
            <a:ext cx="4716000" cy="5212080"/>
            <a:chOff x="11770200" y="3511440"/>
            <a:chExt cx="4716000" cy="5212080"/>
          </a:xfrm>
        </p:grpSpPr>
        <p:sp>
          <p:nvSpPr>
            <p:cNvPr id="158" name="Freeform 12"/>
            <p:cNvSpPr/>
            <p:nvPr/>
          </p:nvSpPr>
          <p:spPr>
            <a:xfrm>
              <a:off x="1177020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13"/>
            <p:cNvSpPr/>
            <p:nvPr/>
          </p:nvSpPr>
          <p:spPr>
            <a:xfrm>
              <a:off x="1177020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0" name="TextBox 14"/>
          <p:cNvSpPr/>
          <p:nvPr/>
        </p:nvSpPr>
        <p:spPr>
          <a:xfrm>
            <a:off x="2104920" y="1504800"/>
            <a:ext cx="1407636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Benefícios do Pluvius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2202840" y="4631040"/>
            <a:ext cx="4008600" cy="31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</a:t>
            </a:r>
            <a:r>
              <a:rPr b="1" lang="en-US" sz="2400" strike="noStrike" u="none">
                <a:solidFill>
                  <a:srgbClr val="00796b"/>
                </a:solidFill>
                <a:effectLst/>
                <a:uFillTx/>
                <a:latin typeface="Codec Pro Bold"/>
                <a:ea typeface="Codec Pro Bold"/>
              </a:rPr>
              <a:t>prevenção de enchentes</a:t>
            </a:r>
            <a:r>
              <a:rPr b="0" lang="en-US" sz="2400" strike="noStrike" u="non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 é alcançada através de um sistema de alerta antecipado, permitindo que a população se prepare para chuvas intensas e minimize os danos.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7187760" y="4631040"/>
            <a:ext cx="4008600" cy="31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segurança da população é fundamental; com evacuação eficiente em áreas de risco, o AlertaSP garante que as pessoas possam deixar locais perigosos antes que a situação se agrave.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12173040" y="4631040"/>
            <a:ext cx="4008600" cy="31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21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</a:t>
            </a:r>
            <a:r>
              <a:rPr b="1" lang="en-US" sz="2400" strike="noStrike" u="none">
                <a:solidFill>
                  <a:srgbClr val="00796b"/>
                </a:solidFill>
                <a:effectLst/>
                <a:uFillTx/>
                <a:latin typeface="Codec Pro Bold"/>
                <a:ea typeface="Codec Pro Bold"/>
              </a:rPr>
              <a:t>redução de danos</a:t>
            </a:r>
            <a:r>
              <a:rPr b="0" lang="en-US" sz="2400" strike="noStrike" u="non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 é promovida pelo monitoramento constante, que protege bens materiais e infraestruturas, assegurando uma resposta rápida em casos de emergência climática.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2"/>
          <p:cNvGrpSpPr/>
          <p:nvPr/>
        </p:nvGrpSpPr>
        <p:grpSpPr>
          <a:xfrm>
            <a:off x="766440" y="666720"/>
            <a:ext cx="16953120" cy="8952120"/>
            <a:chOff x="766440" y="666720"/>
            <a:chExt cx="16953120" cy="8952120"/>
          </a:xfrm>
        </p:grpSpPr>
        <p:sp>
          <p:nvSpPr>
            <p:cNvPr id="165" name="Freeform 3"/>
            <p:cNvSpPr/>
            <p:nvPr/>
          </p:nvSpPr>
          <p:spPr>
            <a:xfrm>
              <a:off x="80424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Freeform 4"/>
            <p:cNvSpPr/>
            <p:nvPr/>
          </p:nvSpPr>
          <p:spPr>
            <a:xfrm>
              <a:off x="76644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  <a:tabLst>
                <a:tab algn="l" pos="0"/>
              </a:tabLst>
            </a:pPr>
            <a:r>
              <a:rPr b="1" lang="en-US" sz="5400" spc="-136" strike="noStrike" u="none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Conclusão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6"/>
          <p:cNvGrpSpPr/>
          <p:nvPr/>
        </p:nvGrpSpPr>
        <p:grpSpPr>
          <a:xfrm>
            <a:off x="7436880" y="1308960"/>
            <a:ext cx="9049680" cy="7414560"/>
            <a:chOff x="7436880" y="1308960"/>
            <a:chExt cx="9049680" cy="7414560"/>
          </a:xfrm>
        </p:grpSpPr>
        <p:sp>
          <p:nvSpPr>
            <p:cNvPr id="169" name="Freeform 7"/>
            <p:cNvSpPr/>
            <p:nvPr/>
          </p:nvSpPr>
          <p:spPr>
            <a:xfrm>
              <a:off x="7436880" y="1562040"/>
              <a:ext cx="9049680" cy="7161480"/>
            </a:xfrm>
            <a:custGeom>
              <a:avLst/>
              <a:gdLst>
                <a:gd name="textAreaLeft" fmla="*/ 0 w 9049680"/>
                <a:gd name="textAreaRight" fmla="*/ 9051120 w 9049680"/>
                <a:gd name="textAreaTop" fmla="*/ 0 h 7161480"/>
                <a:gd name="textAreaBottom" fmla="*/ 7162920 h 71614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cap="rnd"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Box 8"/>
            <p:cNvSpPr/>
            <p:nvPr/>
          </p:nvSpPr>
          <p:spPr>
            <a:xfrm>
              <a:off x="7436880" y="1308960"/>
              <a:ext cx="9049680" cy="741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rIns="127080" tIns="127080" bIns="127080" anchor="ctr">
              <a:noAutofit/>
            </a:bodyPr>
            <a:p>
              <a:pPr algn="ctr" defTabSz="914400">
                <a:lnSpc>
                  <a:spcPts val="312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1" name="TextBox 9"/>
          <p:cNvSpPr/>
          <p:nvPr/>
        </p:nvSpPr>
        <p:spPr>
          <a:xfrm>
            <a:off x="7659720" y="2928600"/>
            <a:ext cx="8289000" cy="47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O Projeto Pluvius oferece uma solução inovadora, alinhada aos princípios de Cidades Inteligentes, para reduzir os efeitos das enchentes em São Paulo. A integração entre sensores IoT, análise de dados e sistemas de alerta mostra-se viável e relevante para o cenário brasileiro.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Experiências internacionais comprovam a eficácia desse tipo de tecnologia e reforçam seu potencial de adaptação para a realidade paulistana. 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 implementação do Pluvius resultaria em maior precisão no monitoramento, decisões antecipadas e diminuição dos impactos causados por eventos hidrológicos, promovendo mais segurança e uma administração urbana mais eficiente.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LibreOffice/25.8.2.2$Windows_X86_64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DAG5vub0i_Q</dc:identifier>
  <dc:language>pt-BR</dc:language>
  <cp:lastModifiedBy/>
  <dcterms:modified xsi:type="dcterms:W3CDTF">2025-11-25T23:08:48Z</dcterms:modified>
  <cp:revision>7</cp:revision>
  <dc:subject/>
  <dc:title>Projeto A3:Pluvius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